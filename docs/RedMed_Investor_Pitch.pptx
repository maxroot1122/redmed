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5240000" cy="9525000"/>
  <p:notesSz cx="9525000" cy="15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1333500"/>
            <a:ext cx="2666107" cy="3738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1409700"/>
            <a:ext cx="240319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INVESTMENT OVERVIEW</a:t>
            </a:r>
            <a:endParaRPr lang="en-US" sz="11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2147292"/>
            <a:ext cx="609600" cy="60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4900" y="2012156"/>
            <a:ext cx="3538776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0"/>
              </a:lnSpc>
              <a:buNone/>
            </a:pPr>
            <a:r>
              <a:rPr lang="en-US" sz="6600" spc="-132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RedMed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304800" y="3082677"/>
            <a:ext cx="959739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179"/>
              </a:lnSpc>
              <a:buNone/>
            </a:pPr>
            <a:r>
              <a:rPr lang="en-US" sz="240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Human Suffering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04800" y="3745557"/>
            <a:ext cx="623871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passive NFC medical ID, built for the one moment a QR code can't handle.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000125"/>
            <a:ext cx="1405235" cy="3357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7275"/>
            <a:ext cx="117663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04800" y="1564481"/>
            <a:ext cx="5013753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33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Fails You When You Need It Most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04800" y="3027462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2951262"/>
            <a:ext cx="5878785" cy="620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codes need clean light — never there in the dark, rain, or blood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04800" y="3945434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3869234"/>
            <a:ext cx="5972294" cy="620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hide the code inside the band, under an unconscious wrist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04800" y="4863405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4787205"/>
            <a:ext cx="5356516" cy="620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Health needs the right phone, unlocked, and a responder who knows to look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000125"/>
            <a:ext cx="1809452" cy="3357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7275"/>
            <a:ext cx="158085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THE SOLUTION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04800" y="1564481"/>
            <a:ext cx="95973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33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Tap, Not a Scan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04800" y="2524571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2448371"/>
            <a:ext cx="5971068" cy="620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phone taps the band — profile opens instantly, no app or login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04800" y="3442543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3366343"/>
            <a:ext cx="5861617" cy="620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aid and emergency contacts, with 911 as the obvious next step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04800" y="4360515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4284315"/>
            <a:ext cx="57101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battery, no server, no breach — it just works, forever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04800" y="5190976"/>
            <a:ext cx="959739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35"/>
              </a:lnSpc>
              <a:buNone/>
            </a:pPr>
            <a:r>
              <a:rPr lang="en-US" sz="1950" spc="-29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Screens. One Tap. Zero Friction.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304800" y="5734943"/>
            <a:ext cx="4229100" cy="3742134"/>
          </a:xfrm>
          <a:prstGeom prst="roundRect">
            <a:avLst>
              <a:gd name="adj" fmla="val 7127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4800" y="5734943"/>
            <a:ext cx="4229100" cy="571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" y="6058793"/>
            <a:ext cx="4065270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spc="42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— OWNER, ONCE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" y="6417766"/>
            <a:ext cx="3695700" cy="464790"/>
          </a:xfrm>
          <a:prstGeom prst="roundRect">
            <a:avLst>
              <a:gd name="adj" fmla="val 24592"/>
            </a:avLst>
          </a:prstGeom>
          <a:solidFill>
            <a:srgbClr val="421B1B"/>
          </a:solidFill>
          <a:ln/>
        </p:spPr>
      </p:sp>
      <p:sp>
        <p:nvSpPr>
          <p:cNvPr id="17" name="Text 15"/>
          <p:cNvSpPr/>
          <p:nvPr/>
        </p:nvSpPr>
        <p:spPr>
          <a:xfrm>
            <a:off x="723900" y="6532066"/>
            <a:ext cx="499021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1723" y="6532066"/>
            <a:ext cx="879277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 Rivera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" y="6977807"/>
            <a:ext cx="3695700" cy="464790"/>
          </a:xfrm>
          <a:prstGeom prst="roundRect">
            <a:avLst>
              <a:gd name="adj" fmla="val 24592"/>
            </a:avLst>
          </a:prstGeom>
          <a:solidFill>
            <a:srgbClr val="421B1B"/>
          </a:solidFill>
          <a:ln/>
        </p:spPr>
      </p:sp>
      <p:sp>
        <p:nvSpPr>
          <p:cNvPr id="20" name="Text 18"/>
          <p:cNvSpPr/>
          <p:nvPr/>
        </p:nvSpPr>
        <p:spPr>
          <a:xfrm>
            <a:off x="723900" y="7092107"/>
            <a:ext cx="852488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Blood type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9108" y="7092107"/>
            <a:ext cx="851892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negative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1500" y="7537847"/>
            <a:ext cx="3695700" cy="464790"/>
          </a:xfrm>
          <a:prstGeom prst="roundRect">
            <a:avLst>
              <a:gd name="adj" fmla="val 24592"/>
            </a:avLst>
          </a:prstGeom>
          <a:solidFill>
            <a:srgbClr val="421B1B"/>
          </a:solidFill>
          <a:ln/>
        </p:spPr>
      </p:sp>
      <p:sp>
        <p:nvSpPr>
          <p:cNvPr id="23" name="Text 21"/>
          <p:cNvSpPr/>
          <p:nvPr/>
        </p:nvSpPr>
        <p:spPr>
          <a:xfrm>
            <a:off x="723900" y="7652147"/>
            <a:ext cx="698599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Allergies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7667" y="7652147"/>
            <a:ext cx="713333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Penicillin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1500" y="8097887"/>
            <a:ext cx="3695700" cy="464790"/>
          </a:xfrm>
          <a:prstGeom prst="roundRect">
            <a:avLst>
              <a:gd name="adj" fmla="val 24592"/>
            </a:avLst>
          </a:prstGeom>
          <a:solidFill>
            <a:srgbClr val="421B1B"/>
          </a:solidFill>
          <a:ln/>
        </p:spPr>
      </p:sp>
      <p:sp>
        <p:nvSpPr>
          <p:cNvPr id="26" name="Text 24"/>
          <p:cNvSpPr/>
          <p:nvPr/>
        </p:nvSpPr>
        <p:spPr>
          <a:xfrm>
            <a:off x="723900" y="8212187"/>
            <a:ext cx="847874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94720" y="8212187"/>
            <a:ext cx="119628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1 diabetes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1500" y="8753177"/>
            <a:ext cx="3695700" cy="457200"/>
          </a:xfrm>
          <a:prstGeom prst="roundRect">
            <a:avLst>
              <a:gd name="adj" fmla="val 50000"/>
            </a:avLst>
          </a:prstGeom>
          <a:solidFill>
            <a:srgbClr val="BA0329"/>
          </a:solidFill>
          <a:ln/>
        </p:spPr>
      </p:sp>
      <p:sp>
        <p:nvSpPr>
          <p:cNvPr id="29" name="Text 27"/>
          <p:cNvSpPr/>
          <p:nvPr/>
        </p:nvSpPr>
        <p:spPr>
          <a:xfrm>
            <a:off x="649415" y="8886527"/>
            <a:ext cx="35398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&amp; write to band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5734943"/>
            <a:ext cx="4229100" cy="3742134"/>
          </a:xfrm>
          <a:prstGeom prst="roundRect">
            <a:avLst>
              <a:gd name="adj" fmla="val 7127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5734943"/>
            <a:ext cx="4229100" cy="571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32" name="Text 30"/>
          <p:cNvSpPr/>
          <p:nvPr/>
        </p:nvSpPr>
        <p:spPr>
          <a:xfrm>
            <a:off x="5067300" y="6058793"/>
            <a:ext cx="4065270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spc="42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TAPPED VIEW — BYSTANDER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67300" y="6417766"/>
            <a:ext cx="3695700" cy="457200"/>
          </a:xfrm>
          <a:prstGeom prst="roundRect">
            <a:avLst>
              <a:gd name="adj" fmla="val 50000"/>
            </a:avLst>
          </a:prstGeom>
          <a:solidFill>
            <a:srgbClr val="BA0329"/>
          </a:solidFill>
          <a:ln/>
        </p:spPr>
      </p:sp>
      <p:sp>
        <p:nvSpPr>
          <p:cNvPr id="34" name="Text 32"/>
          <p:cNvSpPr/>
          <p:nvPr/>
        </p:nvSpPr>
        <p:spPr>
          <a:xfrm>
            <a:off x="5145215" y="6551116"/>
            <a:ext cx="35398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911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67300" y="7027366"/>
            <a:ext cx="3695700" cy="457200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36" name="Text 34"/>
          <p:cNvSpPr/>
          <p:nvPr/>
        </p:nvSpPr>
        <p:spPr>
          <a:xfrm>
            <a:off x="5145215" y="7160716"/>
            <a:ext cx="35398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Trauma hospitals nearby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67300" y="7656016"/>
            <a:ext cx="3695700" cy="464790"/>
          </a:xfrm>
          <a:prstGeom prst="roundRect">
            <a:avLst>
              <a:gd name="adj" fmla="val 24592"/>
            </a:avLst>
          </a:prstGeom>
          <a:solidFill>
            <a:srgbClr val="421B1B"/>
          </a:solidFill>
          <a:ln/>
        </p:spPr>
      </p:sp>
      <p:sp>
        <p:nvSpPr>
          <p:cNvPr id="38" name="Text 36"/>
          <p:cNvSpPr/>
          <p:nvPr/>
        </p:nvSpPr>
        <p:spPr>
          <a:xfrm>
            <a:off x="5219700" y="7770316"/>
            <a:ext cx="698599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Allergies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73467" y="7770316"/>
            <a:ext cx="713333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Penicillin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67300" y="8216057"/>
            <a:ext cx="3695700" cy="464790"/>
          </a:xfrm>
          <a:prstGeom prst="roundRect">
            <a:avLst>
              <a:gd name="adj" fmla="val 24592"/>
            </a:avLst>
          </a:prstGeom>
          <a:solidFill>
            <a:srgbClr val="421B1B"/>
          </a:solidFill>
          <a:ln/>
        </p:spPr>
      </p:sp>
      <p:sp>
        <p:nvSpPr>
          <p:cNvPr id="41" name="Text 39"/>
          <p:cNvSpPr/>
          <p:nvPr/>
        </p:nvSpPr>
        <p:spPr>
          <a:xfrm>
            <a:off x="5219700" y="8330357"/>
            <a:ext cx="1534954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contact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86377" y="8330357"/>
            <a:ext cx="1000423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Jamie Rivera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4800" y="9667577"/>
            <a:ext cx="9597390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sample profile — shown for demonstration only.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000125"/>
            <a:ext cx="2692301" cy="3357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7275"/>
            <a:ext cx="246827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COMPETITIVE LANDSCAPE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04800" y="1564481"/>
            <a:ext cx="95973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33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Than Anything Else on the Market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04800" y="2410271"/>
            <a:ext cx="8724900" cy="2386608"/>
          </a:xfrm>
          <a:prstGeom prst="roundRect">
            <a:avLst>
              <a:gd name="adj" fmla="val 11175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3052167"/>
            <a:ext cx="2051596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6"/>
          <p:cNvSpPr/>
          <p:nvPr/>
        </p:nvSpPr>
        <p:spPr>
          <a:xfrm>
            <a:off x="2623096" y="3052167"/>
            <a:ext cx="1106835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Text 7"/>
          <p:cNvSpPr/>
          <p:nvPr/>
        </p:nvSpPr>
        <p:spPr>
          <a:xfrm>
            <a:off x="2775496" y="2657921"/>
            <a:ext cx="878235" cy="29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RedMed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29930" y="3052167"/>
            <a:ext cx="153546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3882330" y="2657921"/>
            <a:ext cx="1306860" cy="29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Bracelets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265390" y="3052167"/>
            <a:ext cx="1780282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417790" y="2657921"/>
            <a:ext cx="1551682" cy="29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Health ID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45672" y="3052167"/>
            <a:ext cx="1717328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5" name="Text 13"/>
          <p:cNvSpPr/>
          <p:nvPr/>
        </p:nvSpPr>
        <p:spPr>
          <a:xfrm>
            <a:off x="7198072" y="2657921"/>
            <a:ext cx="1488728" cy="29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Engraved Tags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71500" y="3594050"/>
            <a:ext cx="2051596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723900" y="3195042"/>
            <a:ext cx="1822996" cy="30375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in Low Light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23096" y="3594050"/>
            <a:ext cx="1106835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2775496" y="3195042"/>
            <a:ext cx="878235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729930" y="3594050"/>
            <a:ext cx="153546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3882330" y="3195042"/>
            <a:ext cx="1306860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265390" y="3594050"/>
            <a:ext cx="1780282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5417790" y="3195042"/>
            <a:ext cx="1551682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045672" y="3594050"/>
            <a:ext cx="1717328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7198072" y="3195042"/>
            <a:ext cx="1488728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71500" y="4135934"/>
            <a:ext cx="2051596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723900" y="3736925"/>
            <a:ext cx="1822996" cy="30375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App or Login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2623096" y="4135934"/>
            <a:ext cx="1106835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9" name="Text 27"/>
          <p:cNvSpPr/>
          <p:nvPr/>
        </p:nvSpPr>
        <p:spPr>
          <a:xfrm>
            <a:off x="2775496" y="3736925"/>
            <a:ext cx="878235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729930" y="4135934"/>
            <a:ext cx="153546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1" name="Text 29"/>
          <p:cNvSpPr/>
          <p:nvPr/>
        </p:nvSpPr>
        <p:spPr>
          <a:xfrm>
            <a:off x="3882330" y="3736925"/>
            <a:ext cx="1306860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265390" y="4135934"/>
            <a:ext cx="1780282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3" name="Text 31"/>
          <p:cNvSpPr/>
          <p:nvPr/>
        </p:nvSpPr>
        <p:spPr>
          <a:xfrm>
            <a:off x="5417790" y="3736925"/>
            <a:ext cx="1551682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045672" y="4135934"/>
            <a:ext cx="1717328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5" name="Text 33"/>
          <p:cNvSpPr/>
          <p:nvPr/>
        </p:nvSpPr>
        <p:spPr>
          <a:xfrm>
            <a:off x="7198072" y="3736925"/>
            <a:ext cx="1488728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23900" y="4278809"/>
            <a:ext cx="1822996" cy="3085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First-Aid Guidance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2775496" y="4278809"/>
            <a:ext cx="878235" cy="308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882330" y="4278809"/>
            <a:ext cx="1306860" cy="308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417790" y="4278809"/>
            <a:ext cx="1551682" cy="308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198072" y="4278809"/>
            <a:ext cx="1488728" cy="308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000125"/>
            <a:ext cx="2541687" cy="3357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7275"/>
            <a:ext cx="231313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REGULATORY &amp; PRIVACY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04800" y="1564481"/>
            <a:ext cx="95973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33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Outside HIPAA's Reach — By Design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04800" y="2524571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2448371"/>
            <a:ext cx="5789416" cy="1291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RedMed isn't a HIPAA covered entity or business associate — direct-to-consumer wearables generally fall outside HIPAA, and with no server, there's no centralized PHI store to breach in the first place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04800" y="4112865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4036665"/>
            <a:ext cx="5829272" cy="1291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in scope for the FTC Health Breach Notification Rule and state health-data laws (e.g., Washington's My Health My Data Act) — RedMed's local-only architecture is built to minimize exposure under both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04800" y="5701159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5624959"/>
            <a:ext cx="5775006" cy="95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 data is intentionally unencrypted so any responder's phone can read it instantly — the same tradeoff every medical ID bracelet makes, disclosed up front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000125"/>
            <a:ext cx="2019151" cy="3357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7275"/>
            <a:ext cx="179055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BUSINESS MODEL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04800" y="1564481"/>
            <a:ext cx="8986647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33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Product, One Payment, No Servers to Run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04800" y="2913162"/>
            <a:ext cx="4248150" cy="1882676"/>
          </a:xfrm>
          <a:prstGeom prst="roundRect">
            <a:avLst>
              <a:gd name="adj" fmla="val 14166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294162"/>
            <a:ext cx="3834765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$30–60, One Time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" y="3662065"/>
            <a:ext cx="3590735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subscriptions or backend — the profile lives on the band, so there's no recurring cost per customer.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4781550" y="2913162"/>
            <a:ext cx="4248150" cy="1882676"/>
          </a:xfrm>
          <a:prstGeom prst="roundRect">
            <a:avLst>
              <a:gd name="adj" fmla="val 14166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62550" y="3294162"/>
            <a:ext cx="3834765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Replacement, Not Repair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162550" y="3662065"/>
            <a:ext cx="3590735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battery to fail. A damaged unit means a new band from the store — the AirTag model.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304800" y="5024438"/>
            <a:ext cx="4248150" cy="2133600"/>
          </a:xfrm>
          <a:prstGeom prst="roundRect">
            <a:avLst>
              <a:gd name="adj" fmla="val 12500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5405438"/>
            <a:ext cx="3834765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Attached Revenue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85800" y="5773341"/>
            <a:ext cx="3590735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IFAK affiliate links, plus a standing discount for veterans and first responders — a core, trusted audience.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4781550" y="5024438"/>
            <a:ext cx="4248150" cy="2133600"/>
          </a:xfrm>
          <a:prstGeom prst="roundRect">
            <a:avLst>
              <a:gd name="adj" fmla="val 12500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62550" y="5405438"/>
            <a:ext cx="3834765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&amp; Fleet Contracts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162550" y="5773341"/>
            <a:ext cx="3590735" cy="1041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procurement by EMS agencies, fire departments and military units — a repeatable B2B2C channel with larger order sizes and built-in reorder as bands turn over.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000125"/>
            <a:ext cx="1293168" cy="3357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7275"/>
            <a:ext cx="1064568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MARKET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04800" y="1564481"/>
            <a:ext cx="95973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33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Fast-Growing, Underserved Market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04800" y="2410271"/>
            <a:ext cx="297561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53"/>
              </a:lnSpc>
              <a:buNone/>
            </a:pPr>
            <a:r>
              <a:rPr lang="en-US" sz="420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$1.4B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04800" y="3077021"/>
            <a:ext cx="2975610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ID Bracelets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04800" y="3444925"/>
            <a:ext cx="2786253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market, projected by 2033 — up from roughly $0.85B in 2025. RedMed's direct category.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314700" y="2410271"/>
            <a:ext cx="297561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53"/>
              </a:lnSpc>
              <a:buNone/>
            </a:pPr>
            <a:r>
              <a:rPr lang="en-US" sz="420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$28.6B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314700" y="3077021"/>
            <a:ext cx="2975610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Alert Systems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314700" y="3444925"/>
            <a:ext cx="2786253" cy="1041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broader wearable medical-alert market by 2035, growing at roughly 11% a year — the category RedMed can expand into.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324600" y="2410271"/>
            <a:ext cx="297561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53"/>
              </a:lnSpc>
              <a:buNone/>
            </a:pPr>
            <a:r>
              <a:rPr lang="en-US" sz="420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~2.3M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324600" y="3077021"/>
            <a:ext cx="2975610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Beachhead Buyers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24600" y="3444925"/>
            <a:ext cx="2786253" cy="1292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EMS professionals and active-duty military personnel — a concentrated, trusted-channel wedge ahead of the broader consumer market.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304800" y="5080546"/>
            <a:ext cx="6758534" cy="451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Precedence Research (medical alert systems, 2025), Verified Market Research (medical ID bracelets, 2024), NAEMT and DoD personnel figures.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000125"/>
            <a:ext cx="1435745" cy="3357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7275"/>
            <a:ext cx="120714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TRACTION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04800" y="1564481"/>
            <a:ext cx="95973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33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Stand Today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04800" y="2410271"/>
            <a:ext cx="2755850" cy="2707779"/>
          </a:xfrm>
          <a:prstGeom prst="roundRect">
            <a:avLst>
              <a:gd name="adj" fmla="val 9849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791271"/>
            <a:ext cx="2193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6"/>
              </a:lnSpc>
              <a:buNone/>
            </a:pPr>
            <a:r>
              <a:rPr lang="en-US" sz="360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3381821"/>
            <a:ext cx="2070050" cy="507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Bands Sold / Activated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3984278"/>
            <a:ext cx="207005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metric — the clearest signal of real-world adoption.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3289250" y="2410271"/>
            <a:ext cx="2755850" cy="2707779"/>
          </a:xfrm>
          <a:prstGeom prst="roundRect">
            <a:avLst>
              <a:gd name="adj" fmla="val 9849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70250" y="2791271"/>
            <a:ext cx="2193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6"/>
              </a:lnSpc>
              <a:buNone/>
            </a:pPr>
            <a:r>
              <a:rPr lang="en-US" sz="360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TBD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70250" y="3381821"/>
            <a:ext cx="2070050" cy="507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Tap-to-Load Success Rate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70250" y="3984278"/>
            <a:ext cx="207005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metric — proves the core promise works every time, unlike QR.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6273701" y="2410271"/>
            <a:ext cx="2755999" cy="2707779"/>
          </a:xfrm>
          <a:prstGeom prst="roundRect">
            <a:avLst>
              <a:gd name="adj" fmla="val 9849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4701" y="2791271"/>
            <a:ext cx="21933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6"/>
              </a:lnSpc>
              <a:buNone/>
            </a:pPr>
            <a:r>
              <a:rPr lang="en-US" sz="360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TBD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54701" y="3381821"/>
            <a:ext cx="2193399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Tap-to-Info Time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54701" y="3749725"/>
            <a:ext cx="2070199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metric — the whole product exists to drive this to zero.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304800" y="5346650"/>
            <a:ext cx="9597390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Pre-launch — figures to be filled in as pilots and early sales land.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000125"/>
            <a:ext cx="1878360" cy="3357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7275"/>
            <a:ext cx="164976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GO-TO-MARKET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04800" y="1564481"/>
            <a:ext cx="557082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33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the People Who Already Carry the Risk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04800" y="3027462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2951262"/>
            <a:ext cx="52010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Direct-to-consumer — full margin, no retail markup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04800" y="3610273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3534073"/>
            <a:ext cx="5965549" cy="620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Veteran &amp; first-responder communities — built-in trust and word of mouth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04800" y="4528245"/>
            <a:ext cx="133350" cy="19050"/>
          </a:xfrm>
          <a:prstGeom prst="rect">
            <a:avLst/>
          </a:prstGeom>
          <a:solidFill>
            <a:srgbClr val="BA0329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4452045"/>
            <a:ext cx="5606077" cy="620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Outdoor &amp; hunting retailers — the shelf this design was built for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000125"/>
            <a:ext cx="1088082" cy="3357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7275"/>
            <a:ext cx="85948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TEAM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04800" y="1564481"/>
            <a:ext cx="95973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33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Building This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04800" y="2410271"/>
            <a:ext cx="2755850" cy="2720280"/>
          </a:xfrm>
          <a:prstGeom prst="roundRect">
            <a:avLst>
              <a:gd name="adj" fmla="val 9804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7700" y="3896171"/>
            <a:ext cx="2070050" cy="507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Maximilian Aguilar-Aasted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86107" y="4498628"/>
            <a:ext cx="219323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3289250" y="2410271"/>
            <a:ext cx="2755850" cy="2720280"/>
          </a:xfrm>
          <a:prstGeom prst="roundRect">
            <a:avLst>
              <a:gd name="adj" fmla="val 9804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70558" y="3896171"/>
            <a:ext cx="2193235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Founders Name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570558" y="4264075"/>
            <a:ext cx="219323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CSO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6273701" y="2410271"/>
            <a:ext cx="2755999" cy="2720280"/>
          </a:xfrm>
          <a:prstGeom prst="roundRect">
            <a:avLst>
              <a:gd name="adj" fmla="val 9804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55001" y="3896171"/>
            <a:ext cx="2193399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Heaven Jager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55001" y="4264075"/>
            <a:ext cx="2193399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CMO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304800" y="5359152"/>
            <a:ext cx="9597390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— drop in real names, photos and bios.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000125"/>
            <a:ext cx="1288256" cy="3357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7275"/>
            <a:ext cx="1059656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THE ASK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04800" y="1564481"/>
            <a:ext cx="5013753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330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Us Get Bands Into the World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04800" y="2913162"/>
            <a:ext cx="8724900" cy="1590973"/>
          </a:xfrm>
          <a:prstGeom prst="roundRect">
            <a:avLst>
              <a:gd name="adj" fmla="val 16763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294162"/>
            <a:ext cx="26961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300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808512"/>
            <a:ext cx="2696155" cy="219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00"/>
              </a:lnSpc>
              <a:buNone/>
            </a:pPr>
            <a:r>
              <a:rPr lang="en-US" sz="1275" spc="-19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Amount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441650" y="3294162"/>
            <a:ext cx="26961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300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41650" y="3808512"/>
            <a:ext cx="2696155" cy="219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00"/>
              </a:lnSpc>
              <a:buNone/>
            </a:pPr>
            <a:r>
              <a:rPr lang="en-US" sz="1275" spc="-19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197501" y="3294162"/>
            <a:ext cx="26963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300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97501" y="3808512"/>
            <a:ext cx="2696319" cy="219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00"/>
              </a:lnSpc>
              <a:buNone/>
            </a:pPr>
            <a:r>
              <a:rPr lang="en-US" sz="1275" spc="-19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Runway to Next Raise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304800" y="4732734"/>
            <a:ext cx="9597390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placeholder — fill in raise amount and valuation cap once finalized.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4800" y="5244108"/>
            <a:ext cx="4248150" cy="1631752"/>
          </a:xfrm>
          <a:prstGeom prst="roundRect">
            <a:avLst>
              <a:gd name="adj" fmla="val 16344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5625108"/>
            <a:ext cx="3834765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&amp; Tooling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85800" y="5993011"/>
            <a:ext cx="3590735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NTAG216 hardware, silicone molding, first production run.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4781550" y="5244108"/>
            <a:ext cx="4248150" cy="1631752"/>
          </a:xfrm>
          <a:prstGeom prst="roundRect">
            <a:avLst>
              <a:gd name="adj" fmla="val 16344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62550" y="5625108"/>
            <a:ext cx="3834765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162550" y="5993011"/>
            <a:ext cx="383476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to cover launch demand.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304800" y="7104459"/>
            <a:ext cx="4248150" cy="1380827"/>
          </a:xfrm>
          <a:prstGeom prst="roundRect">
            <a:avLst>
              <a:gd name="adj" fmla="val 19315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7485459"/>
            <a:ext cx="3834765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&amp; Setup Tooling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85800" y="7853362"/>
            <a:ext cx="383476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form, tag-writing flow, training videos.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4781550" y="7104459"/>
            <a:ext cx="4248150" cy="1380827"/>
          </a:xfrm>
          <a:prstGeom prst="roundRect">
            <a:avLst>
              <a:gd name="adj" fmla="val 19315"/>
            </a:avLst>
          </a:prstGeom>
          <a:solidFill>
            <a:srgbClr val="191D24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62550" y="7485459"/>
            <a:ext cx="3834765" cy="272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1650" spc="-25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162550" y="7853362"/>
            <a:ext cx="383476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marketing and channel partnerships.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000125"/>
            <a:ext cx="1432917" cy="335756"/>
          </a:xfrm>
          <a:prstGeom prst="roundRect">
            <a:avLst>
              <a:gd name="adj" fmla="val 50000"/>
            </a:avLst>
          </a:prstGeom>
          <a:solidFill>
            <a:srgbClr val="421B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7275"/>
            <a:ext cx="120431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68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IN TOUCH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04800" y="1564481"/>
            <a:ext cx="5672146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06"/>
              </a:lnSpc>
              <a:buNone/>
            </a:pPr>
            <a:r>
              <a:rPr lang="en-US" sz="4200" spc="-42" kern="0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Human Suffering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04800" y="2981623"/>
            <a:ext cx="61074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band. One tap. No app, no login, no light needed.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04800" y="3687366"/>
            <a:ext cx="2080468" cy="555724"/>
          </a:xfrm>
          <a:prstGeom prst="roundRect">
            <a:avLst>
              <a:gd name="adj" fmla="val 50000"/>
            </a:avLst>
          </a:prstGeom>
          <a:solidFill>
            <a:srgbClr val="BA0329"/>
          </a:solidFill>
          <a:ln/>
        </p:spPr>
      </p:sp>
      <p:sp>
        <p:nvSpPr>
          <p:cNvPr id="8" name="Text 6"/>
          <p:cNvSpPr/>
          <p:nvPr/>
        </p:nvSpPr>
        <p:spPr>
          <a:xfrm>
            <a:off x="590550" y="3839766"/>
            <a:ext cx="1585168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E5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hello@redmed.com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2537668" y="3702100"/>
            <a:ext cx="2341066" cy="526256"/>
          </a:xfrm>
          <a:prstGeom prst="roundRect">
            <a:avLst>
              <a:gd name="adj" fmla="val 50000"/>
            </a:avLst>
          </a:prstGeom>
          <a:ln w="9525">
            <a:solidFill>
              <a:srgbClr val="42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5793" y="3854500"/>
            <a:ext cx="1941016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68"/>
              </a:lnSpc>
              <a:buNone/>
            </a:pPr>
            <a:r>
              <a:rPr lang="en-US" sz="1125" spc="45" kern="0" dirty="0">
                <a:solidFill>
                  <a:srgbClr val="EC5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ROUND NOW OPEN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304800" y="4776490"/>
            <a:ext cx="87249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304800" y="5090815"/>
            <a:ext cx="1125736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RedMed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02351" y="5090815"/>
            <a:ext cx="2340084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899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— not for distribution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2026-07-29T01:57:05Z</dcterms:created>
  <dcterms:modified xsi:type="dcterms:W3CDTF">2026-07-29T01:57:05Z</dcterms:modified>
</cp:coreProperties>
</file>