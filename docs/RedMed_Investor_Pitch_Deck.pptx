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tagline and the one-line pitch: a passive NFC medical ID for the moment a QR code can't handle.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 and phone-based IDs fail in the exact conditions where they're needed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tap replaces a scan: instant, no app, no battery, no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 takes seconds once; a tap by any bystander opens the tapped view instantly.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RedMed is the only option that clears all three bars: low light, no app, and first-aid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RedMed sits outside HIPAA by design; the FTC Health Breach Notification Rule and state laws still 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One-time hardware purchase, no subscriptions, plus attached and B2B revenue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concentrated beachhead of EMS and military, inside a fast-growing broader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Pre-launch — metrics to be filled in as pilots and early sales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DTC first, leaning on veteran and first-responder trust networks, plus outdoor retail.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Founding team — photos and bios to be finalized.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Raise amount TBD, SAFE instrument, 18-month runway; use of funds across manufacturing, inventory, tooling and go-to-market.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contact info and the open seed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0" y="4572000"/>
            <a:ext cx="7620000" cy="5715000"/>
          </a:xfrm>
          <a:prstGeom prst="rect">
            <a:avLst/>
          </a:prstGeom>
          <a:gradFill rotWithShape="1">
            <a:gsLst>
              <a:gs pos="0">
                <a:srgbClr val="421B1B">
                  <a:alpha val="55000"/>
                </a:srgbClr>
              </a:gs>
              <a:gs pos="72000">
                <a:srgbClr val="421B1B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524000" y="3262313"/>
            <a:ext cx="3367088" cy="419100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1752600" y="3357563"/>
            <a:ext cx="3010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SEED INVESTMENT OVERVIEW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4243388"/>
            <a:ext cx="838200" cy="838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09850" y="4062412"/>
            <a:ext cx="4503688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0" spc="-180" kern="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RedMed</a:t>
            </a:r>
            <a:endParaRPr lang="en-US" sz="9000" dirty="0"/>
          </a:p>
        </p:txBody>
      </p:sp>
      <p:sp>
        <p:nvSpPr>
          <p:cNvPr id="7" name="Text 4"/>
          <p:cNvSpPr/>
          <p:nvPr/>
        </p:nvSpPr>
        <p:spPr>
          <a:xfrm>
            <a:off x="1524000" y="5491163"/>
            <a:ext cx="167640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Reducing Human Suffering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524000" y="6167438"/>
            <a:ext cx="529320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passive NFC medical ID, built for the one moment a QR code can't handle.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00" y="5524500"/>
            <a:ext cx="6667500" cy="4762500"/>
          </a:xfrm>
          <a:prstGeom prst="rect">
            <a:avLst/>
          </a:prstGeom>
          <a:gradFill rotWithShape="1">
            <a:gsLst>
              <a:gs pos="0">
                <a:srgbClr val="421B1B">
                  <a:alpha val="55000"/>
                </a:srgbClr>
              </a:gs>
              <a:gs pos="72000">
                <a:srgbClr val="421B1B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524000" y="2564160"/>
            <a:ext cx="1852612" cy="419100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1752600" y="2659410"/>
            <a:ext cx="14716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24000" y="3326160"/>
            <a:ext cx="5710930" cy="150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48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Fails You When You Need It Most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524000" y="5484465"/>
            <a:ext cx="171450" cy="28575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7" name="Text 5"/>
          <p:cNvSpPr/>
          <p:nvPr/>
        </p:nvSpPr>
        <p:spPr>
          <a:xfrm>
            <a:off x="1866900" y="5370165"/>
            <a:ext cx="848491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QR codes need clean light — never there in the dark, rain, or blood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524000" y="6255990"/>
            <a:ext cx="171450" cy="28575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9" name="Text 7"/>
          <p:cNvSpPr/>
          <p:nvPr/>
        </p:nvSpPr>
        <p:spPr>
          <a:xfrm>
            <a:off x="1866900" y="6141690"/>
            <a:ext cx="830188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hide the code inside the band, under an unconscious wrist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524000" y="7027515"/>
            <a:ext cx="171450" cy="28575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11" name="Text 9"/>
          <p:cNvSpPr/>
          <p:nvPr/>
        </p:nvSpPr>
        <p:spPr>
          <a:xfrm>
            <a:off x="1866900" y="6913215"/>
            <a:ext cx="815288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Apple Health needs the right phone, unlocked, and a responder who knows to look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00" y="5524500"/>
            <a:ext cx="6667500" cy="4762500"/>
          </a:xfrm>
          <a:prstGeom prst="rect">
            <a:avLst/>
          </a:prstGeom>
          <a:gradFill rotWithShape="1">
            <a:gsLst>
              <a:gs pos="0">
                <a:srgbClr val="421B1B">
                  <a:alpha val="55000"/>
                </a:srgbClr>
              </a:gs>
              <a:gs pos="72000">
                <a:srgbClr val="421B1B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524000" y="3144143"/>
            <a:ext cx="2309068" cy="419100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1752600" y="3239393"/>
            <a:ext cx="19280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 · THE SOLUTION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24000" y="3906143"/>
            <a:ext cx="1676400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48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Tap, Not a Scan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524000" y="5332958"/>
            <a:ext cx="171450" cy="28575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7" name="Text 5"/>
          <p:cNvSpPr/>
          <p:nvPr/>
        </p:nvSpPr>
        <p:spPr>
          <a:xfrm>
            <a:off x="1866900" y="5218658"/>
            <a:ext cx="856187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 phone taps the band — profile opens instantly, no app or login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524000" y="6104483"/>
            <a:ext cx="171450" cy="28575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9" name="Text 7"/>
          <p:cNvSpPr/>
          <p:nvPr/>
        </p:nvSpPr>
        <p:spPr>
          <a:xfrm>
            <a:off x="1866900" y="5990183"/>
            <a:ext cx="884899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aid and emergency contacts, with 911 as the obvious next step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524000" y="6876008"/>
            <a:ext cx="171450" cy="28575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11" name="Text 9"/>
          <p:cNvSpPr/>
          <p:nvPr/>
        </p:nvSpPr>
        <p:spPr>
          <a:xfrm>
            <a:off x="1866900" y="6761708"/>
            <a:ext cx="7112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battery, no server, no breach — it just works, forever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00" y="5524500"/>
            <a:ext cx="6667500" cy="4762500"/>
          </a:xfrm>
          <a:prstGeom prst="rect">
            <a:avLst/>
          </a:prstGeom>
          <a:gradFill rotWithShape="1">
            <a:gsLst>
              <a:gs pos="0">
                <a:srgbClr val="421B1B">
                  <a:alpha val="55000"/>
                </a:srgbClr>
              </a:gs>
              <a:gs pos="72000">
                <a:srgbClr val="421B1B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524000" y="2049810"/>
            <a:ext cx="2459236" cy="419100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1752600" y="2145060"/>
            <a:ext cx="207823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IN ACTION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24000" y="2735610"/>
            <a:ext cx="1676400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053"/>
              </a:lnSpc>
              <a:buNone/>
            </a:pPr>
            <a:r>
              <a:rPr lang="en-US" sz="36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Screens. One Tap. Zero Friction.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524000" y="3703290"/>
            <a:ext cx="7448550" cy="4114800"/>
          </a:xfrm>
          <a:prstGeom prst="roundRect">
            <a:avLst>
              <a:gd name="adj" fmla="val 6481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24000" y="3703290"/>
            <a:ext cx="7448550" cy="76200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4084290"/>
            <a:ext cx="75228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SETUP — OWNER, ONCE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828800" y="4455765"/>
            <a:ext cx="6838950" cy="495300"/>
          </a:xfrm>
          <a:prstGeom prst="roundRect">
            <a:avLst>
              <a:gd name="adj" fmla="val 23077"/>
            </a:avLst>
          </a:prstGeom>
          <a:solidFill>
            <a:srgbClr val="421B1B"/>
          </a:solidFill>
          <a:ln/>
        </p:spPr>
      </p:sp>
      <p:sp>
        <p:nvSpPr>
          <p:cNvPr id="10" name="Text 8"/>
          <p:cNvSpPr/>
          <p:nvPr/>
        </p:nvSpPr>
        <p:spPr>
          <a:xfrm>
            <a:off x="2000250" y="4589115"/>
            <a:ext cx="58385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62552" y="4589115"/>
            <a:ext cx="10099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Alex Rivera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828800" y="5065365"/>
            <a:ext cx="6838950" cy="495300"/>
          </a:xfrm>
          <a:prstGeom prst="roundRect">
            <a:avLst>
              <a:gd name="adj" fmla="val 23077"/>
            </a:avLst>
          </a:prstGeom>
          <a:solidFill>
            <a:srgbClr val="421B1B"/>
          </a:solidFill>
          <a:ln/>
        </p:spPr>
      </p:sp>
      <p:sp>
        <p:nvSpPr>
          <p:cNvPr id="13" name="Text 11"/>
          <p:cNvSpPr/>
          <p:nvPr/>
        </p:nvSpPr>
        <p:spPr>
          <a:xfrm>
            <a:off x="2000250" y="5198715"/>
            <a:ext cx="97363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Blood type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00355" y="5198715"/>
            <a:ext cx="9721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negative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28800" y="5674965"/>
            <a:ext cx="6838950" cy="495300"/>
          </a:xfrm>
          <a:prstGeom prst="roundRect">
            <a:avLst>
              <a:gd name="adj" fmla="val 23077"/>
            </a:avLst>
          </a:prstGeom>
          <a:solidFill>
            <a:srgbClr val="421B1B"/>
          </a:solidFill>
          <a:ln/>
        </p:spPr>
      </p:sp>
      <p:sp>
        <p:nvSpPr>
          <p:cNvPr id="16" name="Text 14"/>
          <p:cNvSpPr/>
          <p:nvPr/>
        </p:nvSpPr>
        <p:spPr>
          <a:xfrm>
            <a:off x="2000250" y="5808315"/>
            <a:ext cx="8096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Allergies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34449" y="5808315"/>
            <a:ext cx="83805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Penicillin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828800" y="6284565"/>
            <a:ext cx="6838950" cy="495300"/>
          </a:xfrm>
          <a:prstGeom prst="roundRect">
            <a:avLst>
              <a:gd name="adj" fmla="val 23077"/>
            </a:avLst>
          </a:prstGeom>
          <a:solidFill>
            <a:srgbClr val="421B1B"/>
          </a:solidFill>
          <a:ln/>
        </p:spPr>
      </p:sp>
      <p:sp>
        <p:nvSpPr>
          <p:cNvPr id="19" name="Text 17"/>
          <p:cNvSpPr/>
          <p:nvPr/>
        </p:nvSpPr>
        <p:spPr>
          <a:xfrm>
            <a:off x="2000250" y="6417915"/>
            <a:ext cx="9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Conditions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62502" y="6417915"/>
            <a:ext cx="14671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 1 diabetes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828800" y="6989415"/>
            <a:ext cx="6838950" cy="523875"/>
          </a:xfrm>
          <a:prstGeom prst="roundRect">
            <a:avLst>
              <a:gd name="adj" fmla="val 50000"/>
            </a:avLst>
          </a:prstGeom>
          <a:solidFill>
            <a:srgbClr val="BA0329"/>
          </a:solidFill>
          <a:ln/>
        </p:spPr>
      </p:sp>
      <p:sp>
        <p:nvSpPr>
          <p:cNvPr id="22" name="Text 20"/>
          <p:cNvSpPr/>
          <p:nvPr/>
        </p:nvSpPr>
        <p:spPr>
          <a:xfrm>
            <a:off x="1878616" y="7141815"/>
            <a:ext cx="673931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 &amp; write to band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315450" y="3703290"/>
            <a:ext cx="7448550" cy="4114800"/>
          </a:xfrm>
          <a:prstGeom prst="roundRect">
            <a:avLst>
              <a:gd name="adj" fmla="val 6481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15450" y="3703290"/>
            <a:ext cx="7448550" cy="76200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25" name="Text 23"/>
          <p:cNvSpPr/>
          <p:nvPr/>
        </p:nvSpPr>
        <p:spPr>
          <a:xfrm>
            <a:off x="9620250" y="4084290"/>
            <a:ext cx="75228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TAPPED VIEW — BYSTANDER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620250" y="4455765"/>
            <a:ext cx="6838950" cy="523875"/>
          </a:xfrm>
          <a:prstGeom prst="roundRect">
            <a:avLst>
              <a:gd name="adj" fmla="val 50000"/>
            </a:avLst>
          </a:prstGeom>
          <a:solidFill>
            <a:srgbClr val="BA0329"/>
          </a:solidFill>
          <a:ln/>
        </p:spPr>
      </p:sp>
      <p:sp>
        <p:nvSpPr>
          <p:cNvPr id="27" name="Text 25"/>
          <p:cNvSpPr/>
          <p:nvPr/>
        </p:nvSpPr>
        <p:spPr>
          <a:xfrm>
            <a:off x="9670066" y="4608165"/>
            <a:ext cx="673931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Call 911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9620250" y="5151090"/>
            <a:ext cx="6838950" cy="523875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29" name="Text 27"/>
          <p:cNvSpPr/>
          <p:nvPr/>
        </p:nvSpPr>
        <p:spPr>
          <a:xfrm>
            <a:off x="9670066" y="5303490"/>
            <a:ext cx="673931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Trauma hospitals nearby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9620250" y="5865465"/>
            <a:ext cx="6838950" cy="495300"/>
          </a:xfrm>
          <a:prstGeom prst="roundRect">
            <a:avLst>
              <a:gd name="adj" fmla="val 23077"/>
            </a:avLst>
          </a:prstGeom>
          <a:solidFill>
            <a:srgbClr val="421B1B"/>
          </a:solidFill>
          <a:ln/>
        </p:spPr>
      </p:sp>
      <p:sp>
        <p:nvSpPr>
          <p:cNvPr id="31" name="Text 29"/>
          <p:cNvSpPr/>
          <p:nvPr/>
        </p:nvSpPr>
        <p:spPr>
          <a:xfrm>
            <a:off x="9791700" y="5998815"/>
            <a:ext cx="8096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Allergies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5525899" y="5998815"/>
            <a:ext cx="83805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Penicillin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620250" y="6475065"/>
            <a:ext cx="6838950" cy="495300"/>
          </a:xfrm>
          <a:prstGeom prst="roundRect">
            <a:avLst>
              <a:gd name="adj" fmla="val 23077"/>
            </a:avLst>
          </a:prstGeom>
          <a:solidFill>
            <a:srgbClr val="421B1B"/>
          </a:solidFill>
          <a:ln/>
        </p:spPr>
      </p:sp>
      <p:sp>
        <p:nvSpPr>
          <p:cNvPr id="34" name="Text 32"/>
          <p:cNvSpPr/>
          <p:nvPr/>
        </p:nvSpPr>
        <p:spPr>
          <a:xfrm>
            <a:off x="9791700" y="6608415"/>
            <a:ext cx="17941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Emergency contact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5196989" y="6608415"/>
            <a:ext cx="11669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Jamie Rivera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524000" y="8046690"/>
            <a:ext cx="167640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Illustrative sample profile — shown for demonstration only.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00" y="5524500"/>
            <a:ext cx="6667500" cy="4762500"/>
          </a:xfrm>
          <a:prstGeom prst="rect">
            <a:avLst/>
          </a:prstGeom>
          <a:gradFill rotWithShape="1">
            <a:gsLst>
              <a:gs pos="0">
                <a:srgbClr val="421B1B">
                  <a:alpha val="55000"/>
                </a:srgbClr>
              </a:gs>
              <a:gs pos="72000">
                <a:srgbClr val="421B1B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524000" y="2751832"/>
            <a:ext cx="3448943" cy="419100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1752600" y="2847082"/>
            <a:ext cx="30952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 · COMPETITIVE LANDSCAPE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24000" y="3513832"/>
            <a:ext cx="1676400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818"/>
              </a:lnSpc>
              <a:buNone/>
            </a:pPr>
            <a:r>
              <a:rPr lang="en-US" sz="42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Faster Than Anything Else on the Market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524000" y="4610993"/>
            <a:ext cx="15240000" cy="2924175"/>
          </a:xfrm>
          <a:prstGeom prst="roundRect">
            <a:avLst>
              <a:gd name="adj" fmla="val 9121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66900" y="5406330"/>
            <a:ext cx="3687068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Shape 6"/>
          <p:cNvSpPr/>
          <p:nvPr/>
        </p:nvSpPr>
        <p:spPr>
          <a:xfrm>
            <a:off x="5553968" y="5406330"/>
            <a:ext cx="1968847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9" name="Text 7"/>
          <p:cNvSpPr/>
          <p:nvPr/>
        </p:nvSpPr>
        <p:spPr>
          <a:xfrm>
            <a:off x="5744468" y="4953893"/>
            <a:ext cx="166404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RedMed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22815" y="5406330"/>
            <a:ext cx="2735461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1" name="Text 9"/>
          <p:cNvSpPr/>
          <p:nvPr/>
        </p:nvSpPr>
        <p:spPr>
          <a:xfrm>
            <a:off x="7713315" y="4953893"/>
            <a:ext cx="24365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QR Bracelets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258276" y="5406330"/>
            <a:ext cx="3155454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10448776" y="4953893"/>
            <a:ext cx="286911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Apple Health ID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413730" y="5406330"/>
            <a:ext cx="300737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5" name="Text 13"/>
          <p:cNvSpPr/>
          <p:nvPr/>
        </p:nvSpPr>
        <p:spPr>
          <a:xfrm>
            <a:off x="13604230" y="4953893"/>
            <a:ext cx="271659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Engraved Tags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866900" y="6063555"/>
            <a:ext cx="3687068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7" name="Text 15"/>
          <p:cNvSpPr/>
          <p:nvPr/>
        </p:nvSpPr>
        <p:spPr>
          <a:xfrm>
            <a:off x="2057400" y="5606355"/>
            <a:ext cx="3416680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in Low Light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553968" y="6063555"/>
            <a:ext cx="1968847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9" name="Text 17"/>
          <p:cNvSpPr/>
          <p:nvPr/>
        </p:nvSpPr>
        <p:spPr>
          <a:xfrm>
            <a:off x="5744468" y="5606355"/>
            <a:ext cx="16640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522815" y="6063555"/>
            <a:ext cx="2735461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1" name="Text 19"/>
          <p:cNvSpPr/>
          <p:nvPr/>
        </p:nvSpPr>
        <p:spPr>
          <a:xfrm>
            <a:off x="7713315" y="5606355"/>
            <a:ext cx="2436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258276" y="6063555"/>
            <a:ext cx="3155454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3" name="Text 21"/>
          <p:cNvSpPr/>
          <p:nvPr/>
        </p:nvSpPr>
        <p:spPr>
          <a:xfrm>
            <a:off x="10448776" y="5606355"/>
            <a:ext cx="2869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3413730" y="6063555"/>
            <a:ext cx="300737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5" name="Text 23"/>
          <p:cNvSpPr/>
          <p:nvPr/>
        </p:nvSpPr>
        <p:spPr>
          <a:xfrm>
            <a:off x="13604230" y="5606355"/>
            <a:ext cx="27165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866900" y="6720780"/>
            <a:ext cx="3687068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7" name="Text 25"/>
          <p:cNvSpPr/>
          <p:nvPr/>
        </p:nvSpPr>
        <p:spPr>
          <a:xfrm>
            <a:off x="2057400" y="6263580"/>
            <a:ext cx="3416680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App or Login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553968" y="6720780"/>
            <a:ext cx="1968847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9" name="Text 27"/>
          <p:cNvSpPr/>
          <p:nvPr/>
        </p:nvSpPr>
        <p:spPr>
          <a:xfrm>
            <a:off x="5744468" y="6263580"/>
            <a:ext cx="16640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522815" y="6720780"/>
            <a:ext cx="2735461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1" name="Text 29"/>
          <p:cNvSpPr/>
          <p:nvPr/>
        </p:nvSpPr>
        <p:spPr>
          <a:xfrm>
            <a:off x="7713315" y="6263580"/>
            <a:ext cx="2436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258276" y="6720780"/>
            <a:ext cx="3155454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3" name="Text 31"/>
          <p:cNvSpPr/>
          <p:nvPr/>
        </p:nvSpPr>
        <p:spPr>
          <a:xfrm>
            <a:off x="10448776" y="6263580"/>
            <a:ext cx="2869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3413730" y="6720780"/>
            <a:ext cx="300737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5" name="Text 33"/>
          <p:cNvSpPr/>
          <p:nvPr/>
        </p:nvSpPr>
        <p:spPr>
          <a:xfrm>
            <a:off x="13604230" y="6263580"/>
            <a:ext cx="27165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057400" y="6920805"/>
            <a:ext cx="3416680" cy="3095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First-Aid Guidance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744468" y="6920805"/>
            <a:ext cx="1664047" cy="3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713315" y="6920805"/>
            <a:ext cx="2436525" cy="3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448776" y="6920805"/>
            <a:ext cx="2869118" cy="3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3604230" y="6920805"/>
            <a:ext cx="2716591" cy="3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00" y="5524500"/>
            <a:ext cx="6667500" cy="4762500"/>
          </a:xfrm>
          <a:prstGeom prst="rect">
            <a:avLst/>
          </a:prstGeom>
          <a:gradFill rotWithShape="1">
            <a:gsLst>
              <a:gs pos="0">
                <a:srgbClr val="421B1B">
                  <a:alpha val="55000"/>
                </a:srgbClr>
              </a:gs>
              <a:gs pos="72000">
                <a:srgbClr val="421B1B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524000" y="2563267"/>
            <a:ext cx="3244751" cy="419100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1752600" y="2658517"/>
            <a:ext cx="288489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 · REGULATORY &amp; PRIVACY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24000" y="3325267"/>
            <a:ext cx="5800146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95"/>
              </a:lnSpc>
              <a:buNone/>
            </a:pPr>
            <a:r>
              <a:rPr lang="en-US" sz="39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Outside HIPAA's Reach — By Design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524000" y="5104358"/>
            <a:ext cx="171450" cy="28575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7" name="Text 5"/>
          <p:cNvSpPr/>
          <p:nvPr/>
        </p:nvSpPr>
        <p:spPr>
          <a:xfrm>
            <a:off x="1866900" y="5009108"/>
            <a:ext cx="11370199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RedMed isn't a HIPAA covered entity or business associate — direct-to-consumer wearables generally fall outside HIPAA, and with no server, there's no centralized PHI store to breach in the first place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524000" y="6123533"/>
            <a:ext cx="171450" cy="28575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9" name="Text 7"/>
          <p:cNvSpPr/>
          <p:nvPr/>
        </p:nvSpPr>
        <p:spPr>
          <a:xfrm>
            <a:off x="1866900" y="6028283"/>
            <a:ext cx="11147005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Still in scope for the FTC Health Breach Notification Rule and state health-data laws (e.g., Washington's My Health My Data Act) — RedMed's local-only architecture is built to minimize exposure under both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524000" y="7142708"/>
            <a:ext cx="171450" cy="28575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11" name="Text 9"/>
          <p:cNvSpPr/>
          <p:nvPr/>
        </p:nvSpPr>
        <p:spPr>
          <a:xfrm>
            <a:off x="1866900" y="7047458"/>
            <a:ext cx="11278683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Tag data is intentionally unencrypted so any responder's phone can read it instantly — the same tradeoff every medical ID bracelet makes, disclosed up front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00" y="5524500"/>
            <a:ext cx="6667500" cy="4762500"/>
          </a:xfrm>
          <a:prstGeom prst="rect">
            <a:avLst/>
          </a:prstGeom>
          <a:gradFill rotWithShape="1">
            <a:gsLst>
              <a:gs pos="0">
                <a:srgbClr val="421B1B">
                  <a:alpha val="55000"/>
                </a:srgbClr>
              </a:gs>
              <a:gs pos="72000">
                <a:srgbClr val="421B1B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524000" y="2284065"/>
            <a:ext cx="2590949" cy="419100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1752600" y="2379315"/>
            <a:ext cx="22114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05 · BUSINESS MODEL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24000" y="3046065"/>
            <a:ext cx="1676400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95"/>
              </a:lnSpc>
              <a:buNone/>
            </a:pPr>
            <a:r>
              <a:rPr lang="en-US" sz="39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Product, One Payment, No Servers to Run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524000" y="4097536"/>
            <a:ext cx="7467600" cy="1800225"/>
          </a:xfrm>
          <a:prstGeom prst="roundRect">
            <a:avLst>
              <a:gd name="adj" fmla="val 14815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905000" y="4478536"/>
            <a:ext cx="73761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$30–60, One Time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905000" y="4945261"/>
            <a:ext cx="690676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subscriptions or backend — the profile lives on the band, so there's no recurring cost per customer.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296400" y="4097536"/>
            <a:ext cx="7467600" cy="1800225"/>
          </a:xfrm>
          <a:prstGeom prst="roundRect">
            <a:avLst>
              <a:gd name="adj" fmla="val 14815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77400" y="4478536"/>
            <a:ext cx="73761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Replacement, Not Repair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77400" y="4945261"/>
            <a:ext cx="690676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battery to fail. A damaged unit means a new band from the store — the AirTag model.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524000" y="6202561"/>
            <a:ext cx="7467600" cy="1800225"/>
          </a:xfrm>
          <a:prstGeom prst="roundRect">
            <a:avLst>
              <a:gd name="adj" fmla="val 14815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05000" y="6583561"/>
            <a:ext cx="73761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Attached Revenue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905000" y="7050286"/>
            <a:ext cx="690676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IFAK affiliate links, plus a standing discount for veterans and first responders — a core, trusted audience.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296400" y="6202561"/>
            <a:ext cx="7467600" cy="1800225"/>
          </a:xfrm>
          <a:prstGeom prst="roundRect">
            <a:avLst>
              <a:gd name="adj" fmla="val 14815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77400" y="6583561"/>
            <a:ext cx="73761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 &amp; Fleet Contracts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677400" y="7050286"/>
            <a:ext cx="690676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Bulk procurement by EMS agencies, fire departments and military units — a repeatable B2B2C channel with reorder as bands turn over.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00" y="5524500"/>
            <a:ext cx="6667500" cy="4762500"/>
          </a:xfrm>
          <a:prstGeom prst="rect">
            <a:avLst/>
          </a:prstGeom>
          <a:gradFill rotWithShape="1">
            <a:gsLst>
              <a:gs pos="0">
                <a:srgbClr val="421B1B">
                  <a:alpha val="55000"/>
                </a:srgbClr>
              </a:gs>
              <a:gs pos="72000">
                <a:srgbClr val="421B1B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524000" y="2853184"/>
            <a:ext cx="1694408" cy="419100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1752600" y="2948434"/>
            <a:ext cx="13134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06 · MARKET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24000" y="3615184"/>
            <a:ext cx="1676400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95"/>
              </a:lnSpc>
              <a:buNone/>
            </a:pPr>
            <a:r>
              <a:rPr lang="en-US" sz="39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Fast-Growing, Underserved Market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524000" y="4742855"/>
            <a:ext cx="52806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10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$1.4B</a:t>
            </a:r>
            <a:endParaRPr lang="en-US" sz="5100" dirty="0"/>
          </a:p>
        </p:txBody>
      </p:sp>
      <p:sp>
        <p:nvSpPr>
          <p:cNvPr id="7" name="Text 5"/>
          <p:cNvSpPr/>
          <p:nvPr/>
        </p:nvSpPr>
        <p:spPr>
          <a:xfrm>
            <a:off x="1524000" y="5562005"/>
            <a:ext cx="52806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Medical ID Bracelets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24000" y="5981105"/>
            <a:ext cx="494461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 market, projected by 2033 — up from roughly $0.85B in 2025. RedMed's direct category.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6743700" y="4742855"/>
            <a:ext cx="52806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10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$28.6B</a:t>
            </a:r>
            <a:endParaRPr lang="en-US" sz="5100" dirty="0"/>
          </a:p>
        </p:txBody>
      </p:sp>
      <p:sp>
        <p:nvSpPr>
          <p:cNvPr id="10" name="Text 8"/>
          <p:cNvSpPr/>
          <p:nvPr/>
        </p:nvSpPr>
        <p:spPr>
          <a:xfrm>
            <a:off x="6743700" y="5562005"/>
            <a:ext cx="52806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Medical Alert Systems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743700" y="5981105"/>
            <a:ext cx="4944618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broader wearable medical-alert market by 2035, growing at roughly 11% a year — the category RedMed can expand into.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1963400" y="4742855"/>
            <a:ext cx="52806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10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~2.3M</a:t>
            </a:r>
            <a:endParaRPr lang="en-US" sz="5100" dirty="0"/>
          </a:p>
        </p:txBody>
      </p:sp>
      <p:sp>
        <p:nvSpPr>
          <p:cNvPr id="13" name="Text 11"/>
          <p:cNvSpPr/>
          <p:nvPr/>
        </p:nvSpPr>
        <p:spPr>
          <a:xfrm>
            <a:off x="11963400" y="5562005"/>
            <a:ext cx="52806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Beachhead Buyers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963400" y="5981105"/>
            <a:ext cx="494461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 EMS professionals and active-duty military personnel — a concentrated, trusted-channel wedge.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524000" y="7252692"/>
            <a:ext cx="167640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Sources: Precedence Research (medical alert systems, 2025), Verified Market Research (medical ID bracelets, 2024), NAEMT and DoD personnel figures.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00" y="5524500"/>
            <a:ext cx="6667500" cy="4762500"/>
          </a:xfrm>
          <a:prstGeom prst="rect">
            <a:avLst/>
          </a:prstGeom>
          <a:gradFill rotWithShape="1">
            <a:gsLst>
              <a:gs pos="0">
                <a:srgbClr val="421B1B">
                  <a:alpha val="55000"/>
                </a:srgbClr>
              </a:gs>
              <a:gs pos="72000">
                <a:srgbClr val="421B1B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524000" y="2807940"/>
            <a:ext cx="1868537" cy="419100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1752600" y="2903190"/>
            <a:ext cx="14875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07 · TRACTION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24000" y="3569940"/>
            <a:ext cx="1676400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95"/>
              </a:lnSpc>
              <a:buNone/>
            </a:pPr>
            <a:r>
              <a:rPr lang="en-US" sz="39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We Stand Today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524000" y="4621411"/>
            <a:ext cx="4876800" cy="2324100"/>
          </a:xfrm>
          <a:prstGeom prst="roundRect">
            <a:avLst>
              <a:gd name="adj" fmla="val 11475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905000" y="5002411"/>
            <a:ext cx="452628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246"/>
              </a:lnSpc>
              <a:buNone/>
            </a:pPr>
            <a:r>
              <a:rPr lang="en-US" sz="390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TBD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905000" y="5650111"/>
            <a:ext cx="45262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Bands Sold / Activated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05000" y="6050161"/>
            <a:ext cx="423824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metric — the clearest signal of real-world adoption.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705600" y="4621411"/>
            <a:ext cx="4876800" cy="2324100"/>
          </a:xfrm>
          <a:prstGeom prst="roundRect">
            <a:avLst>
              <a:gd name="adj" fmla="val 11475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86600" y="5002411"/>
            <a:ext cx="452628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246"/>
              </a:lnSpc>
              <a:buNone/>
            </a:pPr>
            <a:r>
              <a:rPr lang="en-US" sz="390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TBD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7086600" y="5650111"/>
            <a:ext cx="45262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Tap-to-Load Success Rate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86600" y="6050161"/>
            <a:ext cx="423824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metric — proves the core promise works every time, unlike QR.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1887200" y="4621411"/>
            <a:ext cx="4876800" cy="2324100"/>
          </a:xfrm>
          <a:prstGeom prst="roundRect">
            <a:avLst>
              <a:gd name="adj" fmla="val 11475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268200" y="5002411"/>
            <a:ext cx="452628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246"/>
              </a:lnSpc>
              <a:buNone/>
            </a:pPr>
            <a:r>
              <a:rPr lang="en-US" sz="390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TBD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12268200" y="5650111"/>
            <a:ext cx="45262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Tap-to-Info Time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268200" y="6050161"/>
            <a:ext cx="423824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metric — the whole product exists to drive this to zero.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24000" y="7288411"/>
            <a:ext cx="167640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Pre-launch — figures to be filled in as pilots and early sales land.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00" y="5524500"/>
            <a:ext cx="6667500" cy="4762500"/>
          </a:xfrm>
          <a:prstGeom prst="rect">
            <a:avLst/>
          </a:prstGeom>
          <a:gradFill rotWithShape="1">
            <a:gsLst>
              <a:gs pos="0">
                <a:srgbClr val="421B1B">
                  <a:alpha val="55000"/>
                </a:srgbClr>
              </a:gs>
              <a:gs pos="72000">
                <a:srgbClr val="421B1B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524000" y="2655689"/>
            <a:ext cx="2371130" cy="419100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1752600" y="2750939"/>
            <a:ext cx="199013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08 · GO-TO-MARKET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24000" y="3417689"/>
            <a:ext cx="5621713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818"/>
              </a:lnSpc>
              <a:buNone/>
            </a:pPr>
            <a:r>
              <a:rPr lang="en-US" sz="42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Reach the People Who Already Carry the Risk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524000" y="5392936"/>
            <a:ext cx="171450" cy="28575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7" name="Text 5"/>
          <p:cNvSpPr/>
          <p:nvPr/>
        </p:nvSpPr>
        <p:spPr>
          <a:xfrm>
            <a:off x="1866900" y="5278636"/>
            <a:ext cx="653028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Direct-to-consumer — full margin, no retail markup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524000" y="6164461"/>
            <a:ext cx="171450" cy="28575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9" name="Text 7"/>
          <p:cNvSpPr/>
          <p:nvPr/>
        </p:nvSpPr>
        <p:spPr>
          <a:xfrm>
            <a:off x="1866900" y="6050161"/>
            <a:ext cx="825773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Veteran &amp; first-responder communities — built-in trust and word of mouth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524000" y="7364611"/>
            <a:ext cx="171450" cy="28575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11" name="Text 9"/>
          <p:cNvSpPr/>
          <p:nvPr/>
        </p:nvSpPr>
        <p:spPr>
          <a:xfrm>
            <a:off x="1866900" y="7250311"/>
            <a:ext cx="820500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Outdoor &amp; hunting retailers — the shelf this design was built for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00" y="5524500"/>
            <a:ext cx="6667500" cy="4762500"/>
          </a:xfrm>
          <a:prstGeom prst="rect">
            <a:avLst/>
          </a:prstGeom>
          <a:gradFill rotWithShape="1">
            <a:gsLst>
              <a:gs pos="0">
                <a:srgbClr val="421B1B">
                  <a:alpha val="55000"/>
                </a:srgbClr>
              </a:gs>
              <a:gs pos="72000">
                <a:srgbClr val="421B1B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524000" y="2596009"/>
            <a:ext cx="1427411" cy="419100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1752600" y="2691259"/>
            <a:ext cx="10464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09 · TEAM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24000" y="3358009"/>
            <a:ext cx="1676400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95"/>
              </a:lnSpc>
              <a:buNone/>
            </a:pPr>
            <a:r>
              <a:rPr lang="en-US" sz="39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Who's Building This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524000" y="4409480"/>
            <a:ext cx="4876800" cy="2786063"/>
          </a:xfrm>
          <a:prstGeom prst="roundRect">
            <a:avLst>
              <a:gd name="adj" fmla="val 9573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99260" y="6162080"/>
            <a:ext cx="45262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Maximilian Aguilar-Aasted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9260" y="6543080"/>
            <a:ext cx="452628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CEO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6705600" y="4409480"/>
            <a:ext cx="4876800" cy="2786063"/>
          </a:xfrm>
          <a:prstGeom prst="roundRect">
            <a:avLst>
              <a:gd name="adj" fmla="val 9573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80860" y="6162080"/>
            <a:ext cx="45262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Jonathon Augusto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80860" y="6543080"/>
            <a:ext cx="452628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CSO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1887200" y="4409480"/>
            <a:ext cx="4876800" cy="2786063"/>
          </a:xfrm>
          <a:prstGeom prst="roundRect">
            <a:avLst>
              <a:gd name="adj" fmla="val 9573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062460" y="6162080"/>
            <a:ext cx="45262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Heaven Jager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062460" y="6543080"/>
            <a:ext cx="452628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CMO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524000" y="7500342"/>
            <a:ext cx="167640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Placeholder — drop in real names, photos and bios.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00" y="5524500"/>
            <a:ext cx="6667500" cy="4762500"/>
          </a:xfrm>
          <a:prstGeom prst="rect">
            <a:avLst/>
          </a:prstGeom>
          <a:gradFill rotWithShape="1">
            <a:gsLst>
              <a:gs pos="0">
                <a:srgbClr val="421B1B">
                  <a:alpha val="55000"/>
                </a:srgbClr>
              </a:gs>
              <a:gs pos="72000">
                <a:srgbClr val="421B1B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524000" y="2002185"/>
            <a:ext cx="1711077" cy="419100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1752600" y="2097435"/>
            <a:ext cx="13300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 · THE ASK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24000" y="2726085"/>
            <a:ext cx="1676400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053"/>
              </a:lnSpc>
              <a:buNone/>
            </a:pPr>
            <a:r>
              <a:rPr lang="en-US" sz="360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Help Us Get Bands Into the World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524000" y="3617565"/>
            <a:ext cx="15240000" cy="1438275"/>
          </a:xfrm>
          <a:prstGeom prst="roundRect">
            <a:avLst>
              <a:gd name="adj" fmla="val 18543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905000" y="3960465"/>
            <a:ext cx="50850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330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TBD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905000" y="4493865"/>
            <a:ext cx="50850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Raise Amount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6832550" y="3960465"/>
            <a:ext cx="50850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330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832550" y="4493865"/>
            <a:ext cx="50850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Instrument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760101" y="3960465"/>
            <a:ext cx="508518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330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 mo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1760101" y="4493865"/>
            <a:ext cx="50851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Runway to Next Raise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524000" y="5246340"/>
            <a:ext cx="167640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Terms placeholder — fill in raise amount and valuation cap once finalized.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1524000" y="5684490"/>
            <a:ext cx="7524750" cy="1204913"/>
          </a:xfrm>
          <a:prstGeom prst="roundRect">
            <a:avLst>
              <a:gd name="adj" fmla="val 22134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828800" y="5989290"/>
            <a:ext cx="76066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Manufacturing &amp; Tooling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828800" y="6341715"/>
            <a:ext cx="7606665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00"/>
              </a:lnSpc>
              <a:buNone/>
            </a:pPr>
            <a:r>
              <a:rPr lang="en-US" sz="1275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NTAG216 hardware, silicone molding, first production run.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9239250" y="5684490"/>
            <a:ext cx="7524750" cy="1204913"/>
          </a:xfrm>
          <a:prstGeom prst="roundRect">
            <a:avLst>
              <a:gd name="adj" fmla="val 22134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44050" y="5989290"/>
            <a:ext cx="76066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Inventory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44050" y="6341715"/>
            <a:ext cx="7606665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00"/>
              </a:lnSpc>
              <a:buNone/>
            </a:pPr>
            <a:r>
              <a:rPr lang="en-US" sz="1275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Stock to cover launch demand.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1524000" y="7079903"/>
            <a:ext cx="7524750" cy="1204913"/>
          </a:xfrm>
          <a:prstGeom prst="roundRect">
            <a:avLst>
              <a:gd name="adj" fmla="val 22134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828800" y="7384703"/>
            <a:ext cx="76066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&amp; Setup Tooling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828800" y="7737128"/>
            <a:ext cx="7606665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00"/>
              </a:lnSpc>
              <a:buNone/>
            </a:pPr>
            <a:r>
              <a:rPr lang="en-US" sz="1275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Setup form, tag-writing flow, training videos.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9239250" y="7079903"/>
            <a:ext cx="7524750" cy="1204913"/>
          </a:xfrm>
          <a:prstGeom prst="roundRect">
            <a:avLst>
              <a:gd name="adj" fmla="val 22134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544050" y="7384703"/>
            <a:ext cx="76066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Go-to-Market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544050" y="7737128"/>
            <a:ext cx="7606665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00"/>
              </a:lnSpc>
              <a:buNone/>
            </a:pPr>
            <a:r>
              <a:rPr lang="en-US" sz="1275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marketing and channel partnerships.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00" y="5524500"/>
            <a:ext cx="6667500" cy="4762500"/>
          </a:xfrm>
          <a:prstGeom prst="rect">
            <a:avLst/>
          </a:prstGeom>
          <a:gradFill rotWithShape="1">
            <a:gsLst>
              <a:gs pos="0">
                <a:srgbClr val="421B1B">
                  <a:alpha val="55000"/>
                </a:srgbClr>
              </a:gs>
              <a:gs pos="72000">
                <a:srgbClr val="421B1B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524000" y="2650927"/>
            <a:ext cx="1848296" cy="419100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1752600" y="2746177"/>
            <a:ext cx="14672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IN TOUCH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24000" y="3374827"/>
            <a:ext cx="6067796" cy="1527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50"/>
              </a:lnSpc>
              <a:buNone/>
            </a:pPr>
            <a:r>
              <a:rPr lang="en-US" sz="5100" spc="-51" kern="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Reducing Human Suffering</a:t>
            </a:r>
            <a:endParaRPr lang="en-US" sz="5100" dirty="0"/>
          </a:p>
        </p:txBody>
      </p:sp>
      <p:sp>
        <p:nvSpPr>
          <p:cNvPr id="6" name="Text 4"/>
          <p:cNvSpPr/>
          <p:nvPr/>
        </p:nvSpPr>
        <p:spPr>
          <a:xfrm>
            <a:off x="1524000" y="5092898"/>
            <a:ext cx="692480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band. One tap. No app, no login, no light needed.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524000" y="5864423"/>
            <a:ext cx="2512665" cy="619125"/>
          </a:xfrm>
          <a:prstGeom prst="roundRect">
            <a:avLst>
              <a:gd name="adj" fmla="val 50000"/>
            </a:avLst>
          </a:prstGeom>
          <a:solidFill>
            <a:srgbClr val="BA0329"/>
          </a:solidFill>
          <a:ln/>
        </p:spPr>
      </p:sp>
      <p:sp>
        <p:nvSpPr>
          <p:cNvPr id="8" name="Text 6"/>
          <p:cNvSpPr/>
          <p:nvPr/>
        </p:nvSpPr>
        <p:spPr>
          <a:xfrm>
            <a:off x="1866900" y="6054923"/>
            <a:ext cx="19030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5E8E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hello@redmed.com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227165" y="5892998"/>
            <a:ext cx="2628602" cy="561975"/>
          </a:xfrm>
          <a:prstGeom prst="roundRect">
            <a:avLst>
              <a:gd name="adj" fmla="val 50000"/>
            </a:avLst>
          </a:prstGeom>
          <a:ln w="9525">
            <a:solidFill>
              <a:srgbClr val="421B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3390" y="6073973"/>
            <a:ext cx="2155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EC53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SEED ROUND NOW OPEN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24000" y="7093148"/>
            <a:ext cx="1524000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7445573"/>
            <a:ext cx="12433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© 2026 RedMed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4359533" y="7445573"/>
            <a:ext cx="26449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9909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Confidential — not for distribution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2026-07-29T02:21:06Z</dcterms:created>
  <dcterms:modified xsi:type="dcterms:W3CDTF">2026-07-29T02:21:06Z</dcterms:modified>
</cp:coreProperties>
</file>